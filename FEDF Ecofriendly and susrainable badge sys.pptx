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20" autoAdjust="0"/>
    <p:restoredTop sz="94660"/>
  </p:normalViewPr>
  <p:slideViewPr>
    <p:cSldViewPr>
      <p:cViewPr varScale="1">
        <p:scale>
          <a:sx n="86" d="100"/>
          <a:sy n="86" d="100"/>
        </p:scale>
        <p:origin x="1157"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6/14/2026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889"/>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a:t>
            </a:r>
            <a:r>
              <a:rPr lang="en-US" sz="2000" b="1" dirty="0">
                <a:solidFill>
                  <a:schemeClr val="dk1"/>
                </a:solidFill>
                <a:latin typeface="Times New Roman" panose="02020603050405020304" pitchFamily="18" charset="0"/>
                <a:ea typeface="Playfair Display"/>
                <a:cs typeface="Times New Roman" panose="02020603050405020304" pitchFamily="18" charset="0"/>
              </a:rPr>
              <a:t>Eco-Friendly &amp; Sustainable Products Badge System</a:t>
            </a:r>
            <a:endParaRPr lang="en-US" sz="2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30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0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500" dirty="0">
                <a:solidFill>
                  <a:srgbClr val="0D0D0D"/>
                </a:solidFill>
                <a:latin typeface="Times New Roman" pitchFamily="18" charset="0"/>
                <a:cs typeface="Times New Roman" pitchFamily="18" charset="0"/>
              </a:rPr>
              <a:t>Name  D </a:t>
            </a:r>
            <a:r>
              <a:rPr lang="en-US" sz="3500" dirty="0" err="1">
                <a:solidFill>
                  <a:srgbClr val="0D0D0D"/>
                </a:solidFill>
                <a:latin typeface="Times New Roman" pitchFamily="18" charset="0"/>
                <a:cs typeface="Times New Roman" pitchFamily="18" charset="0"/>
              </a:rPr>
              <a:t>Shreenitha</a:t>
            </a:r>
            <a:r>
              <a:rPr lang="en-US" sz="3500" dirty="0">
                <a:solidFill>
                  <a:srgbClr val="0D0D0D"/>
                </a:solidFill>
                <a:latin typeface="Times New Roman" pitchFamily="18" charset="0"/>
                <a:cs typeface="Times New Roman" pitchFamily="18" charset="0"/>
              </a:rPr>
              <a:t>                   roll no:2520030504</a:t>
            </a:r>
          </a:p>
          <a:p>
            <a:pPr marR="0" algn="ctr" eaLnBrk="1" hangingPunct="1">
              <a:lnSpc>
                <a:spcPct val="80000"/>
              </a:lnSpc>
              <a:defRPr/>
            </a:pPr>
            <a:r>
              <a:rPr lang="en-US" sz="3500" dirty="0">
                <a:solidFill>
                  <a:srgbClr val="0D0D0D"/>
                </a:solidFill>
                <a:latin typeface="Times New Roman" pitchFamily="18" charset="0"/>
                <a:cs typeface="Times New Roman" pitchFamily="18" charset="0"/>
              </a:rPr>
              <a:t>Name  G Jahnavi                        roll no:2520030483</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Pavithra D</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533400" y="1447800"/>
            <a:ext cx="8839200" cy="4678363"/>
          </a:xfrm>
        </p:spPr>
        <p:txBody>
          <a:bodyPr>
            <a:normAutofit/>
          </a:bodyPr>
          <a:lstStyle/>
          <a:p>
            <a:r>
              <a:rPr lang="en-US" sz="2600" dirty="0">
                <a:latin typeface="Times New Roman" pitchFamily="18" charset="0"/>
                <a:cs typeface="Times New Roman" pitchFamily="18" charset="0"/>
              </a:rPr>
              <a:t>Abstract</a:t>
            </a:r>
          </a:p>
          <a:p>
            <a:r>
              <a:rPr lang="en-US" sz="2600" dirty="0">
                <a:latin typeface="Times New Roman" pitchFamily="18" charset="0"/>
                <a:cs typeface="Times New Roman" pitchFamily="18" charset="0"/>
              </a:rPr>
              <a:t>Introduction</a:t>
            </a:r>
          </a:p>
          <a:p>
            <a:r>
              <a:rPr lang="en-US" sz="2600" dirty="0">
                <a:latin typeface="Times New Roman" pitchFamily="18" charset="0"/>
                <a:cs typeface="Times New Roman" pitchFamily="18" charset="0"/>
              </a:rPr>
              <a:t>Problem Statement</a:t>
            </a:r>
          </a:p>
          <a:p>
            <a:r>
              <a:rPr lang="en-US" sz="2600" dirty="0">
                <a:latin typeface="Times New Roman" pitchFamily="18" charset="0"/>
                <a:cs typeface="Times New Roman" pitchFamily="18" charset="0"/>
              </a:rPr>
              <a:t>Project Flow Diagram</a:t>
            </a:r>
          </a:p>
          <a:p>
            <a:r>
              <a:rPr lang="en-US" sz="2600" dirty="0">
                <a:latin typeface="Times New Roman" pitchFamily="18" charset="0"/>
                <a:cs typeface="Times New Roman" pitchFamily="18" charset="0"/>
              </a:rPr>
              <a:t>Objectives with Justification</a:t>
            </a:r>
          </a:p>
          <a:p>
            <a:r>
              <a:rPr lang="en-US" sz="2600" dirty="0">
                <a:latin typeface="Times New Roman" pitchFamily="18" charset="0"/>
                <a:cs typeface="Times New Roman" pitchFamily="18" charset="0"/>
              </a:rPr>
              <a:t>Modules[Frontend web pages]</a:t>
            </a:r>
          </a:p>
          <a:p>
            <a:r>
              <a:rPr lang="en-US" sz="2600" dirty="0">
                <a:latin typeface="Times New Roman" pitchFamily="18" charset="0"/>
                <a:cs typeface="Times New Roman" pitchFamily="18" charset="0"/>
              </a:rPr>
              <a:t>Expected Outcomes of the Proposed Work</a:t>
            </a:r>
          </a:p>
          <a:p>
            <a:r>
              <a:rPr lang="en-US" sz="2600" dirty="0">
                <a:latin typeface="Times New Roman" pitchFamily="18" charset="0"/>
                <a:cs typeface="Times New Roman" pitchFamily="18" charset="0"/>
              </a:rPr>
              <a:t>Conclusion </a:t>
            </a:r>
          </a:p>
          <a:p>
            <a:r>
              <a:rPr lang="en-US" sz="2600"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228600" y="1417639"/>
            <a:ext cx="8458200" cy="4708526"/>
          </a:xfrm>
        </p:spPr>
        <p:txBody>
          <a:bodyPr>
            <a:normAutofit lnSpcReduction="10000"/>
          </a:bodyPr>
          <a:lstStyle/>
          <a:p>
            <a:pPr>
              <a:buNone/>
            </a:pPr>
            <a:r>
              <a:rPr lang="en-IN" sz="1600" dirty="0">
                <a:latin typeface="Times New Roman" panose="02020603050405020304" pitchFamily="18" charset="0"/>
                <a:ea typeface="Times New Roman" panose="02020603050405020304" pitchFamily="18" charset="0"/>
              </a:rPr>
              <a:t>       </a:t>
            </a:r>
            <a:r>
              <a:rPr lang="en-IN" sz="1800" dirty="0">
                <a:latin typeface="Times New Roman" panose="02020603050405020304" pitchFamily="18" charset="0"/>
                <a:ea typeface="Times New Roman" panose="02020603050405020304" pitchFamily="18" charset="0"/>
              </a:rPr>
              <a:t>The </a:t>
            </a:r>
            <a:r>
              <a:rPr lang="en-IN" sz="1800" i="1" dirty="0">
                <a:latin typeface="Times New Roman" panose="02020603050405020304" pitchFamily="18" charset="0"/>
                <a:ea typeface="Times New Roman" panose="02020603050405020304" pitchFamily="18" charset="0"/>
              </a:rPr>
              <a:t>Eco-Friendly &amp; Sustainable Products Badge System</a:t>
            </a:r>
            <a:r>
              <a:rPr lang="en-IN" sz="1800" dirty="0">
                <a:latin typeface="Times New Roman" panose="02020603050405020304" pitchFamily="18" charset="0"/>
                <a:ea typeface="Times New Roman" panose="02020603050405020304" pitchFamily="18" charset="0"/>
              </a:rPr>
              <a:t> is a web-based application developed to promote environmentally responsible purchasing decisions in online shopping platforms. With increasing environmental issues such as pollution, excessive plastic usage, and carbon emissions, consumers often lack clear and accessible information about the sustainability of products. This project aims to bridge that gap by introducing a transparent system that evaluates and displays eco-friendly product information. The system assigns an eco-score to products based on predefined sustainability criteria such as material composition, recyclability, packaging impact, and energy efficiency. Each product is displayed with a visual badge representing its sustainability level. </a:t>
            </a:r>
          </a:p>
          <a:p>
            <a:pPr>
              <a:buNone/>
            </a:pPr>
            <a:r>
              <a:rPr lang="en-IN" sz="1800" dirty="0">
                <a:latin typeface="Times New Roman" panose="02020603050405020304" pitchFamily="18" charset="0"/>
                <a:ea typeface="Times New Roman" panose="02020603050405020304" pitchFamily="18" charset="0"/>
              </a:rPr>
              <a:t>      A detailed criteria checklist is provided to ensure transparency in how the score is calculated. An impact chart visually represents the user’s contribution to environmental conservation, such as CO₂ reduction. The system also maintains purchase history and provides notifications for user engagement. An admin panel is included to manage product data and update sustainability criteria. Users can also export environmental impact reports. Developed using modern web technologies, this project offers a practical and scalable solution to integrate sustainability awareness into everyday e-commerce experiences</a:t>
            </a:r>
            <a:r>
              <a:rPr lang="en-IN" sz="1400" dirty="0">
                <a:latin typeface="Times New Roman" panose="02020603050405020304" pitchFamily="18" charset="0"/>
                <a:ea typeface="Times New Roman" panose="02020603050405020304" pitchFamily="18" charset="0"/>
              </a:rPr>
              <a:t>.</a:t>
            </a:r>
          </a:p>
          <a:p>
            <a:pPr>
              <a:buNone/>
            </a:pPr>
            <a:endParaRPr lang="en-IN" sz="1600" dirty="0">
              <a:latin typeface="Times New Roman" panose="02020603050405020304" pitchFamily="18" charset="0"/>
              <a:ea typeface="Times New Roman" panose="02020603050405020304" pitchFamily="18" charset="0"/>
            </a:endParaRPr>
          </a:p>
          <a:p>
            <a:pPr>
              <a:buNone/>
            </a:pPr>
            <a:endParaRPr lang="en-IN" sz="1600" dirty="0">
              <a:latin typeface="Times New Roman" panose="02020603050405020304" pitchFamily="18" charset="0"/>
              <a:ea typeface="Times New Roman" panose="02020603050405020304" pitchFamily="18" charset="0"/>
            </a:endParaRP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457200" y="1417638"/>
            <a:ext cx="8153400" cy="4906961"/>
          </a:xfrm>
        </p:spPr>
        <p:txBody>
          <a:bodyPr>
            <a:normAutofit/>
          </a:bodyPr>
          <a:lstStyle/>
          <a:p>
            <a:r>
              <a:rPr lang="en-US" sz="1800" dirty="0">
                <a:solidFill>
                  <a:srgbClr val="000000"/>
                </a:solidFill>
                <a:latin typeface="Times New Roman" panose="02020603050405020304" pitchFamily="18" charset="0"/>
                <a:cs typeface="Times New Roman" panose="02020603050405020304" pitchFamily="18" charset="0"/>
              </a:rPr>
              <a:t>In recent years, environmental concerns such as climate change, pollution, and excessive plastic usage have increased significantly. With the rapid growth of e-commerce platforms, consumers are purchasing products more frequently, often without considering their environmental impact. However, most online shopping systems do not provide sufficient information about the sustainability of products, making it difficult for users to make eco-conscious decisions. This creates a need for a system that promotes awareness and encourages responsible consumption.</a:t>
            </a:r>
          </a:p>
          <a:p>
            <a:endParaRPr lang="en-US" sz="1800" dirty="0">
              <a:solidFill>
                <a:srgbClr val="000000"/>
              </a:solidFill>
              <a:latin typeface="Times New Roman" panose="02020603050405020304" pitchFamily="18" charset="0"/>
              <a:cs typeface="Times New Roman" panose="02020603050405020304" pitchFamily="18" charset="0"/>
            </a:endParaRPr>
          </a:p>
          <a:p>
            <a:r>
              <a:rPr lang="en-US" sz="1800" dirty="0">
                <a:solidFill>
                  <a:srgbClr val="000000"/>
                </a:solidFill>
                <a:latin typeface="Times New Roman" panose="02020603050405020304" pitchFamily="18" charset="0"/>
                <a:cs typeface="Times New Roman" panose="02020603050405020304" pitchFamily="18" charset="0"/>
              </a:rPr>
              <a:t>The Eco-Friendly &amp; Sustainable Products Badge System is designed to address this issue by integrating sustainability insights into the online shopping experience. The system evaluates products based on various environmental criteria such as material type, recyclability, packaging, and energy efficiency. Based on these factors, each product is assigned an eco-score and displayed with a corresponding badge that indicates its level of sustainability</a:t>
            </a:r>
            <a:endParaRPr lang="en-US" sz="1800"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a:xfrm>
            <a:off x="533400" y="457201"/>
            <a:ext cx="8229600" cy="1143000"/>
          </a:xfrm>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647700" y="1634069"/>
            <a:ext cx="7848600" cy="4525963"/>
          </a:xfrm>
        </p:spPr>
        <p:txBody>
          <a:bodyPr>
            <a:normAutofit/>
          </a:bodyPr>
          <a:lstStyle/>
          <a:p>
            <a:r>
              <a:rPr lang="en-IN" sz="1900" dirty="0">
                <a:latin typeface="Times New Roman" panose="02020603050405020304" pitchFamily="18" charset="0"/>
                <a:cs typeface="Times New Roman" panose="02020603050405020304" pitchFamily="18" charset="0"/>
              </a:rPr>
              <a:t>With the rapid growth of online shopping, consumers often purchase products without knowing their environmental impact. Most e-commerce platforms focus mainly on price and popularity rather than sustainability information. As a result, users find it difficult to identify eco-friendly and environmentally responsible products. This leads to increased plastic waste, pollution, and unsustainable consumption patterns. The Eco-Friendly &amp; Sustainable Products Badge System aims to solve this problem by providing eco-scores, sustainability badges, and environmental impact information to help users make greener and more responsible purchasing decisions.</a:t>
            </a:r>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a:xfrm>
            <a:off x="152400" y="132395"/>
            <a:ext cx="8229600" cy="1143000"/>
          </a:xfrm>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
        <p:nvSpPr>
          <p:cNvPr id="6" name="TextBox 5">
            <a:extLst>
              <a:ext uri="{FF2B5EF4-FFF2-40B4-BE49-F238E27FC236}">
                <a16:creationId xmlns:a16="http://schemas.microsoft.com/office/drawing/2014/main" id="{6730CCF8-490F-D450-1E55-4CEF4C59BEC0}"/>
              </a:ext>
            </a:extLst>
          </p:cNvPr>
          <p:cNvSpPr txBox="1"/>
          <p:nvPr/>
        </p:nvSpPr>
        <p:spPr>
          <a:xfrm>
            <a:off x="3048000" y="1295400"/>
            <a:ext cx="4876800" cy="4801314"/>
          </a:xfrm>
          <a:prstGeom prst="rect">
            <a:avLst/>
          </a:prstGeom>
          <a:noFill/>
        </p:spPr>
        <p:txBody>
          <a:bodyPr wrap="square">
            <a:spAutoFit/>
          </a:bodyPr>
          <a:lstStyle/>
          <a:p>
            <a:r>
              <a:rPr lang="en-IN" dirty="0"/>
              <a:t>Registration</a:t>
            </a:r>
          </a:p>
          <a:p>
            <a:r>
              <a:rPr lang="en-IN" dirty="0"/>
              <a:t>     ↓</a:t>
            </a:r>
          </a:p>
          <a:p>
            <a:r>
              <a:rPr lang="en-IN" dirty="0"/>
              <a:t>Login</a:t>
            </a:r>
          </a:p>
          <a:p>
            <a:r>
              <a:rPr lang="en-IN" dirty="0"/>
              <a:t>     ↓</a:t>
            </a:r>
          </a:p>
          <a:p>
            <a:r>
              <a:rPr lang="en-IN" dirty="0"/>
              <a:t>Product </a:t>
            </a:r>
            <a:r>
              <a:rPr lang="en-IN" dirty="0" err="1"/>
              <a:t>Catalog</a:t>
            </a:r>
            <a:endParaRPr lang="en-IN" dirty="0"/>
          </a:p>
          <a:p>
            <a:r>
              <a:rPr lang="en-IN" dirty="0"/>
              <a:t>     ↓</a:t>
            </a:r>
          </a:p>
          <a:p>
            <a:r>
              <a:rPr lang="en-IN" dirty="0"/>
              <a:t>Eco Score &amp; Badge</a:t>
            </a:r>
          </a:p>
          <a:p>
            <a:r>
              <a:rPr lang="en-IN" dirty="0"/>
              <a:t>     ↓</a:t>
            </a:r>
          </a:p>
          <a:p>
            <a:r>
              <a:rPr lang="en-IN" dirty="0"/>
              <a:t>Filter Products</a:t>
            </a:r>
          </a:p>
          <a:p>
            <a:r>
              <a:rPr lang="en-IN" dirty="0"/>
              <a:t>     ↓</a:t>
            </a:r>
          </a:p>
          <a:p>
            <a:r>
              <a:rPr lang="en-IN" dirty="0"/>
              <a:t>Add To Cart</a:t>
            </a:r>
          </a:p>
          <a:p>
            <a:r>
              <a:rPr lang="en-IN" dirty="0"/>
              <a:t>     ↓</a:t>
            </a:r>
          </a:p>
          <a:p>
            <a:r>
              <a:rPr lang="en-IN" dirty="0"/>
              <a:t>Delivery Address</a:t>
            </a:r>
          </a:p>
          <a:p>
            <a:r>
              <a:rPr lang="en-IN" dirty="0"/>
              <a:t>     ↓</a:t>
            </a:r>
          </a:p>
          <a:p>
            <a:r>
              <a:rPr lang="en-IN" dirty="0"/>
              <a:t>Payment</a:t>
            </a:r>
          </a:p>
          <a:p>
            <a:r>
              <a:rPr lang="en-IN" dirty="0"/>
              <a:t>     ↓</a:t>
            </a:r>
          </a:p>
          <a:p>
            <a:r>
              <a:rPr lang="en-IN" dirty="0"/>
              <a:t>Export Reports</a:t>
            </a:r>
          </a:p>
        </p:txBody>
      </p:sp>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5334000"/>
          </a:xfrm>
        </p:spPr>
        <p:txBody>
          <a:bodyPr>
            <a:normAutofit fontScale="25000" lnSpcReduction="20000"/>
          </a:bodyPr>
          <a:lstStyle/>
          <a:p>
            <a:pPr marL="0" indent="0">
              <a:buNone/>
            </a:pPr>
            <a:r>
              <a:rPr lang="en-IN" sz="7200" dirty="0">
                <a:latin typeface="Times New Roman" panose="02020603050405020304" pitchFamily="18" charset="0"/>
                <a:cs typeface="Times New Roman" panose="02020603050405020304" pitchFamily="18" charset="0"/>
              </a:rPr>
              <a:t>1. To promote eco-friendly shopping habits</a:t>
            </a:r>
          </a:p>
          <a:p>
            <a:pPr marL="0" indent="0">
              <a:buNone/>
            </a:pPr>
            <a:r>
              <a:rPr lang="en-IN" sz="7200" dirty="0">
                <a:latin typeface="Times New Roman" panose="02020603050405020304" pitchFamily="18" charset="0"/>
                <a:cs typeface="Times New Roman" panose="02020603050405020304" pitchFamily="18" charset="0"/>
              </a:rPr>
              <a:t>Justification: The project encourages users to choose environmentally sustainable products by displaying eco-scores and green badges.</a:t>
            </a:r>
            <a:br>
              <a:rPr lang="en-IN" sz="7200" dirty="0">
                <a:latin typeface="Times New Roman" panose="02020603050405020304" pitchFamily="18" charset="0"/>
                <a:cs typeface="Times New Roman" panose="02020603050405020304" pitchFamily="18" charset="0"/>
              </a:rPr>
            </a:b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2. To increase awareness about product sustainability</a:t>
            </a:r>
          </a:p>
          <a:p>
            <a:pPr marL="0" indent="0">
              <a:buNone/>
            </a:pPr>
            <a:r>
              <a:rPr lang="en-IN" sz="7200" dirty="0">
                <a:latin typeface="Times New Roman" panose="02020603050405020304" pitchFamily="18" charset="0"/>
                <a:cs typeface="Times New Roman" panose="02020603050405020304" pitchFamily="18" charset="0"/>
              </a:rPr>
              <a:t>Justification: Many users are unaware of the environmental impact of products, so the system provides clear sustainability criteria and eco information.</a:t>
            </a:r>
          </a:p>
          <a:p>
            <a:pPr marL="0" indent="0">
              <a:buNone/>
            </a:pP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3. To help users make informed purchasing decisions</a:t>
            </a:r>
          </a:p>
          <a:p>
            <a:pPr marL="0" indent="0">
              <a:buNone/>
            </a:pPr>
            <a:r>
              <a:rPr lang="en-IN" sz="7200" dirty="0">
                <a:latin typeface="Times New Roman" panose="02020603050405020304" pitchFamily="18" charset="0"/>
                <a:cs typeface="Times New Roman" panose="02020603050405020304" pitchFamily="18" charset="0"/>
              </a:rPr>
              <a:t>Justification: The system allows users to compare products based on eco-scores, helping them select better and safer options for the environment.</a:t>
            </a:r>
          </a:p>
          <a:p>
            <a:pPr marL="0" indent="0">
              <a:buNone/>
            </a:pP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4. To track and visualize environmental impact</a:t>
            </a:r>
          </a:p>
          <a:p>
            <a:pPr marL="0" indent="0">
              <a:buNone/>
            </a:pPr>
            <a:r>
              <a:rPr lang="en-IN" sz="7200" dirty="0">
                <a:latin typeface="Times New Roman" panose="02020603050405020304" pitchFamily="18" charset="0"/>
                <a:cs typeface="Times New Roman" panose="02020603050405020304" pitchFamily="18" charset="0"/>
              </a:rPr>
              <a:t> Justification: Impact charts and history modules help users understand their contribution    toward reducing   pollution and carbon footprint.</a:t>
            </a:r>
          </a:p>
          <a:p>
            <a:pPr marL="0" indent="0">
              <a:buNone/>
            </a:pP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5. To support sustainable business practices</a:t>
            </a:r>
          </a:p>
          <a:p>
            <a:pPr marL="0" indent="0">
              <a:buNone/>
            </a:pPr>
            <a:r>
              <a:rPr lang="en-IN" sz="7200" dirty="0">
                <a:latin typeface="Times New Roman" panose="02020603050405020304" pitchFamily="18" charset="0"/>
                <a:cs typeface="Times New Roman" panose="02020603050405020304" pitchFamily="18" charset="0"/>
              </a:rPr>
              <a:t>Justification: The project encourages brands and sellers to improve their sustainability standards by highlighting eco-friendly products and brand commitments.</a:t>
            </a:r>
          </a:p>
          <a:p>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914400" y="1752600"/>
            <a:ext cx="7467600" cy="4038599"/>
          </a:xfrm>
        </p:spPr>
        <p:txBody>
          <a:bodyPr>
            <a:normAutofit/>
          </a:bodyPr>
          <a:lstStyle/>
          <a:p>
            <a:pPr marL="0" indent="0">
              <a:buNone/>
            </a:pPr>
            <a:r>
              <a:rPr lang="en-US" sz="2400" dirty="0"/>
              <a:t>1. User Management Module</a:t>
            </a:r>
          </a:p>
          <a:p>
            <a:pPr marL="0" indent="0">
              <a:buNone/>
            </a:pPr>
            <a:r>
              <a:rPr lang="en-US" sz="2400" dirty="0"/>
              <a:t>2. Product Catalog &amp; Eco Badge Module</a:t>
            </a:r>
          </a:p>
          <a:p>
            <a:pPr marL="0" indent="0">
              <a:buNone/>
            </a:pPr>
            <a:r>
              <a:rPr lang="en-US" sz="2400" dirty="0"/>
              <a:t>3. Product Search &amp; Brand Tracking Module</a:t>
            </a:r>
          </a:p>
          <a:p>
            <a:pPr marL="0" indent="0">
              <a:buNone/>
            </a:pPr>
            <a:r>
              <a:rPr lang="en-US" sz="2400" dirty="0"/>
              <a:t>4. Shopping &amp; Order Management Module</a:t>
            </a:r>
          </a:p>
          <a:p>
            <a:pPr marL="0" indent="0">
              <a:buNone/>
            </a:pPr>
            <a:r>
              <a:rPr lang="en-US" sz="2400" dirty="0"/>
              <a:t>5. Green Rewards &amp; Impact Tracking Module</a:t>
            </a:r>
          </a:p>
          <a:p>
            <a:pPr marL="0" indent="0">
              <a:buNone/>
            </a:pPr>
            <a:r>
              <a:rPr lang="en-US" sz="2400" dirty="0"/>
              <a:t>6. Admin &amp; Reporting Module</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499004"/>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600200"/>
            <a:ext cx="8229600" cy="4983164"/>
          </a:xfrm>
        </p:spPr>
        <p:txBody>
          <a:bodyPr>
            <a:normAutofit/>
          </a:bodyPr>
          <a:lstStyle/>
          <a:p>
            <a:r>
              <a:rPr lang="en-IN" sz="2000" dirty="0">
                <a:latin typeface="Times New Roman" panose="02020603050405020304" pitchFamily="18" charset="0"/>
                <a:cs typeface="Times New Roman" panose="02020603050405020304" pitchFamily="18" charset="0"/>
              </a:rPr>
              <a:t>The system will help users easily identify eco-friendly and sustainable products during online shopping.</a:t>
            </a:r>
          </a:p>
          <a:p>
            <a:r>
              <a:rPr lang="en-IN" sz="2000" dirty="0">
                <a:latin typeface="Times New Roman" panose="02020603050405020304" pitchFamily="18" charset="0"/>
                <a:cs typeface="Times New Roman" panose="02020603050405020304" pitchFamily="18" charset="0"/>
              </a:rPr>
              <a:t> Users will become more aware of environmental impact through eco-scores, badges, and sustainability criteria.</a:t>
            </a:r>
          </a:p>
          <a:p>
            <a:r>
              <a:rPr lang="en-IN" sz="2000" dirty="0">
                <a:latin typeface="Times New Roman" panose="02020603050405020304" pitchFamily="18" charset="0"/>
                <a:cs typeface="Times New Roman" panose="02020603050405020304" pitchFamily="18" charset="0"/>
              </a:rPr>
              <a:t> The project will encourage green purchasing habits by providing rewards and incentives for eco-friendly choices. </a:t>
            </a:r>
          </a:p>
          <a:p>
            <a:r>
              <a:rPr lang="en-IN" sz="2000" dirty="0">
                <a:latin typeface="Times New Roman" panose="02020603050405020304" pitchFamily="18" charset="0"/>
                <a:cs typeface="Times New Roman" panose="02020603050405020304" pitchFamily="18" charset="0"/>
              </a:rPr>
              <a:t>Environmental impact tracking such as CO₂ reduction and waste minimization will improve user awareness. </a:t>
            </a:r>
          </a:p>
          <a:p>
            <a:r>
              <a:rPr lang="en-IN" sz="2000" dirty="0">
                <a:latin typeface="Times New Roman" panose="02020603050405020304" pitchFamily="18" charset="0"/>
                <a:cs typeface="Times New Roman" panose="02020603050405020304" pitchFamily="18" charset="0"/>
              </a:rPr>
              <a:t>The admin panel will help efficiently manage product sustainability data and eco-score updates. </a:t>
            </a:r>
          </a:p>
          <a:p>
            <a:r>
              <a:rPr lang="en-IN" sz="2000" dirty="0">
                <a:latin typeface="Times New Roman" panose="02020603050405020304" pitchFamily="18" charset="0"/>
                <a:cs typeface="Times New Roman" panose="02020603050405020304" pitchFamily="18" charset="0"/>
              </a:rPr>
              <a:t>Overall, the system will promote sustainable consumption and support environmental protection through smart technology solutions.</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273675"/>
          </a:xfrm>
        </p:spPr>
        <p:txBody>
          <a:bodyPr>
            <a:normAutofit/>
          </a:bodyPr>
          <a:lstStyle/>
          <a:p>
            <a:r>
              <a:rPr lang="en-IN" sz="1800" dirty="0">
                <a:latin typeface="Times New Roman" panose="02020603050405020304" pitchFamily="18" charset="0"/>
                <a:cs typeface="Times New Roman" panose="02020603050405020304" pitchFamily="18" charset="0"/>
              </a:rPr>
              <a:t>The Eco-Friendly &amp; Sustainable Products Badge System is a useful and innovative solution that promotes environmentally responsible shopping. The project helps users identify sustainable products by displaying eco-scores, badges, and sustainability criteria. It increases user awareness about the environmental impact of their purchasing decisions. The system also encourages green shopping habits through incentives, impact tracking, and informative dashboards. By integrating sustainability features into e-commerce platforms, the project supports eco-conscious decision-making and contributes to environmental protection. Overall, this project combines technology and sustainability to create a smarter and greener shopping experience for users.</a:t>
            </a:r>
          </a:p>
          <a:p>
            <a:r>
              <a:rPr lang="en-IN" sz="1800" dirty="0">
                <a:latin typeface="Times New Roman" panose="02020603050405020304" pitchFamily="18" charset="0"/>
                <a:cs typeface="Times New Roman" panose="02020603050405020304" pitchFamily="18" charset="0"/>
              </a:rPr>
              <a:t>In the future, the system can be enhanced using Artificial Intelligence to provide more accurate eco-score analysis and personalized eco-friendly product recommendations. Real-time carbon footprint calculation and live environmental impact tracking can also be integrated. The project can be connected with real e-commerce platforms such as Amazon or Flipkart for practical implementation. Additional features like mobile app support and blockchain-based sustainability verification can further improve the system.</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a:xfrm>
            <a:off x="609600" y="1600201"/>
            <a:ext cx="8229600" cy="4525963"/>
          </a:xfrm>
        </p:spPr>
        <p:txBody>
          <a:bodyPr>
            <a:normAutofit/>
          </a:bodyPr>
          <a:lstStyle/>
          <a:p>
            <a:r>
              <a:rPr lang="en-IN" sz="1800" dirty="0">
                <a:latin typeface="Times New Roman" panose="02020603050405020304" pitchFamily="18" charset="0"/>
                <a:cs typeface="Times New Roman" panose="02020603050405020304" pitchFamily="18" charset="0"/>
              </a:rPr>
              <a:t>HTML5 Official Documentation – W3Schools </a:t>
            </a:r>
          </a:p>
          <a:p>
            <a:r>
              <a:rPr lang="en-IN" sz="1800" dirty="0">
                <a:latin typeface="Times New Roman" panose="02020603050405020304" pitchFamily="18" charset="0"/>
                <a:cs typeface="Times New Roman" panose="02020603050405020304" pitchFamily="18" charset="0"/>
              </a:rPr>
              <a:t>CSS3 Tutorials and Responsive Design Concepts – MDN Web Docs </a:t>
            </a:r>
          </a:p>
          <a:p>
            <a:r>
              <a:rPr lang="en-IN" sz="1800" dirty="0">
                <a:latin typeface="Times New Roman" panose="02020603050405020304" pitchFamily="18" charset="0"/>
                <a:cs typeface="Times New Roman" panose="02020603050405020304" pitchFamily="18" charset="0"/>
              </a:rPr>
              <a:t>JavaScript ES6 Features – Mozilla Developer Network (MDN) </a:t>
            </a:r>
          </a:p>
          <a:p>
            <a:r>
              <a:rPr lang="en-IN" sz="1800" dirty="0">
                <a:latin typeface="Times New Roman" panose="02020603050405020304" pitchFamily="18" charset="0"/>
                <a:cs typeface="Times New Roman" panose="02020603050405020304" pitchFamily="18" charset="0"/>
              </a:rPr>
              <a:t>React.js Documentation – Meta React Official Website </a:t>
            </a:r>
          </a:p>
          <a:p>
            <a:r>
              <a:rPr lang="en-IN" sz="1800" dirty="0">
                <a:latin typeface="Times New Roman" panose="02020603050405020304" pitchFamily="18" charset="0"/>
                <a:cs typeface="Times New Roman" panose="02020603050405020304" pitchFamily="18" charset="0"/>
              </a:rPr>
              <a:t>Node.js and Express.js Documentation </a:t>
            </a:r>
          </a:p>
          <a:p>
            <a:r>
              <a:rPr lang="en-IN" sz="1800" dirty="0">
                <a:latin typeface="Times New Roman" panose="02020603050405020304" pitchFamily="18" charset="0"/>
                <a:cs typeface="Times New Roman" panose="02020603050405020304" pitchFamily="18" charset="0"/>
              </a:rPr>
              <a:t>Tailwind CSS / Bootstrap Frontend Framework Documentation </a:t>
            </a:r>
          </a:p>
          <a:p>
            <a:r>
              <a:rPr lang="en-IN" sz="1800" dirty="0">
                <a:latin typeface="Times New Roman" panose="02020603050405020304" pitchFamily="18" charset="0"/>
                <a:cs typeface="Times New Roman" panose="02020603050405020304" pitchFamily="18" charset="0"/>
              </a:rPr>
              <a:t>Axios API Handling Documentation </a:t>
            </a:r>
          </a:p>
          <a:p>
            <a:r>
              <a:rPr lang="en-IN" sz="1800" dirty="0">
                <a:latin typeface="Times New Roman" panose="02020603050405020304" pitchFamily="18" charset="0"/>
                <a:cs typeface="Times New Roman" panose="02020603050405020304" pitchFamily="18" charset="0"/>
              </a:rPr>
              <a:t>Chart.js Documentation for Data Visualization </a:t>
            </a:r>
          </a:p>
          <a:p>
            <a:r>
              <a:rPr lang="en-IN" sz="1800" dirty="0">
                <a:latin typeface="Times New Roman" panose="02020603050405020304" pitchFamily="18" charset="0"/>
                <a:cs typeface="Times New Roman" panose="02020603050405020304" pitchFamily="18" charset="0"/>
              </a:rPr>
              <a:t>Sustainable E-Commerce and Green Shopping Research Articles </a:t>
            </a:r>
          </a:p>
          <a:p>
            <a:r>
              <a:rPr lang="en-IN" sz="1800" dirty="0">
                <a:latin typeface="Times New Roman" panose="02020603050405020304" pitchFamily="18" charset="0"/>
                <a:cs typeface="Times New Roman" panose="02020603050405020304" pitchFamily="18" charset="0"/>
              </a:rPr>
              <a:t>Environmental Sustainability and Eco-Friendly Product Standards Resources</a:t>
            </a:r>
          </a:p>
          <a:p>
            <a:endParaRPr lang="en-IN" dirty="0"/>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rPr>
              <a:t>Thank you</a:t>
            </a:r>
            <a:endParaRPr lang="en-US" sz="5400" b="1" cap="none" spc="0" dirty="0">
              <a:ln w="13462">
                <a:solidFill>
                  <a:schemeClr val="bg1"/>
                </a:solidFill>
                <a:prstDash val="solid"/>
              </a:ln>
              <a:solidFill>
                <a:schemeClr val="tx1">
                  <a:lumMod val="85000"/>
                  <a:lumOff val="15000"/>
                </a:schemeClr>
              </a:solidFill>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1907</TotalTime>
  <Words>1187</Words>
  <Application>Microsoft Office PowerPoint</Application>
  <PresentationFormat>On-screen Show (4:3)</PresentationFormat>
  <Paragraphs>101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Review Meeting    on  Eco-Friendly &amp; Sustainable Products Badge System</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jahnavigoka@outlook.com</cp:lastModifiedBy>
  <cp:revision>199</cp:revision>
  <dcterms:created xsi:type="dcterms:W3CDTF">2006-08-16T00:00:00Z</dcterms:created>
  <dcterms:modified xsi:type="dcterms:W3CDTF">2026-06-14T11:44:08Z</dcterms:modified>
</cp:coreProperties>
</file>